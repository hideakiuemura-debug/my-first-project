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はじめに" id="{78994b92-5a6c-1c44-660a-f4d7e6b96d72}">
          <p14:sldIdLst>
            <p14:sldId id="256"/>
            <p14:sldId id="257"/>
            <p14:sldId id="258"/>
          </p14:sldIdLst>
        </p14:section>
        <p14:section name="戦略" id="{1f79dfb9-b897-86be-4cd3-10b92dc0c0c9}">
          <p14:sldIdLst>
            <p14:sldId id="259"/>
            <p14:sldId id="260"/>
            <p14:sldId id="261"/>
          </p14:sldIdLst>
        </p14:section>
        <p14:section name="書き直し案" id="{83b26520-786e-1e1b-61d7-1f17832f4fca}">
          <p14:sldIdLst>
            <p14:sldId id="262"/>
            <p14:sldId id="263"/>
            <p14:sldId id="264"/>
          </p14:sldIdLst>
        </p14:section>
        <p14:section name="進め方" id="{71f27c97-609b-87c6-7f58-b2064df115e7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Indeed掲載中の『半導体製造装置の開発・製造・サポート』求人を、20〜30代の製造経験者向けに書き直し、競合と差別化する案です。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目的は2つ。結論として、学歴不問・製造経験だけで応募できる点を最大の差別化ポイントにします。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年齢制限は法律で原則禁止。若年者向けの例外もこの求人には当てはまりません。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7つの方法はいずれも若年層に向けた訴求で、40代以上を排除するものではありません。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競合5件はいずれも学歴か設計経験を要件にしています。製造経験だけで応募できるのはQuestiaのみです。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競合のほうが上の項目は並べると見劣りするため、求人では触れません。根拠のない比較表現も使いません。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まずメイン案で掲載し、その後ペルソナ別の案を2週間ずつ試します。③の『勤務地は決定済み』は転勤ありとの関係を確認してから使います。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1番の学歴不問がいちばん強い入口です。年収は上限ではなく、学歴不問で450万円からという入口の高さで見せます。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各入力欄の全文は、詳細版の資料に載せています。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1〜4はキャッチコピーと訴求ポイントの書き方が変わるので、最優先で確認してください。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一度にすべて変えると何が効いたか分からないため、段階的に変えます。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Questia｜Indeed求人ブラッシュアップ案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Indeed求人ブラッシュアップ案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株式会社Questia「半導体製造装置の開発・製造・サポート」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若年層の製造経験者向け × 競合との差別化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2026年10月6日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目的と結論</a:t>
            </a:r>
            <a:endParaRPr lang="en-US" sz="3000" dirty="0"/>
          </a:p>
        </p:txBody>
      </p:sp>
      <p:sp>
        <p:nvSpPr>
          <p:cNvPr id="3" name="goal card 1"/>
          <p:cNvSpPr/>
          <p:nvPr/>
        </p:nvSpPr>
        <p:spPr>
          <a:xfrm>
            <a:off x="548640" y="1417320"/>
            <a:ext cx="548640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4" name="goal 1 circle"/>
          <p:cNvSpPr/>
          <p:nvPr/>
        </p:nvSpPr>
        <p:spPr>
          <a:xfrm>
            <a:off x="822960" y="192024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goal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212598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74520" y="16916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目的 1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874520" y="20116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20〜30代の製造経験者の応募を増やす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874520" y="26517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40代以上の応募の比率を下げる</a:t>
            </a:r>
            <a:endParaRPr lang="en-US" sz="1200" dirty="0"/>
          </a:p>
        </p:txBody>
      </p:sp>
      <p:sp>
        <p:nvSpPr>
          <p:cNvPr id="9" name="goal card 2"/>
          <p:cNvSpPr/>
          <p:nvPr/>
        </p:nvSpPr>
        <p:spPr>
          <a:xfrm>
            <a:off x="548640" y="3520440"/>
            <a:ext cx="548640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0" name="goal 2 circle"/>
          <p:cNvSpPr/>
          <p:nvPr/>
        </p:nvSpPr>
        <p:spPr>
          <a:xfrm>
            <a:off x="822960" y="402336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goal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422910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874520" y="37947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目的 2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1874520" y="41148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Questiaの強みで競合と差別化する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1874520" y="47548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比較対象：ヒップ、メイテックフィルダーズ、東日本スターワークス、ミラプロ</a:t>
            </a:r>
            <a:endParaRPr lang="en-US" sz="1200" dirty="0"/>
          </a:p>
        </p:txBody>
      </p:sp>
      <p:sp>
        <p:nvSpPr>
          <p:cNvPr id="15" name="conclusion panel"/>
          <p:cNvSpPr/>
          <p:nvPr/>
        </p:nvSpPr>
        <p:spPr>
          <a:xfrm>
            <a:off x="6400800" y="1417320"/>
            <a:ext cx="5212080" cy="3931920"/>
          </a:xfrm>
          <a:prstGeom prst="roundRect">
            <a:avLst>
              <a:gd name="adj" fmla="val 1860"/>
            </a:avLst>
          </a:prstGeom>
          <a:solidFill>
            <a:schemeClr val="tx2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676656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結論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6766560" y="214884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「学歴不問・製造経験だけで応募できる」</a:t>
            </a:r>
            <a:endParaRPr lang="en-US" sz="14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唯一の求人として打ち出す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6766560" y="365760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競合5件はどれも学歴か設計の実務経験を求めている。競合が狙っていない「工場で働く20代の製造経験者」を、ほぼ競合なしで集められる。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前提：求人に年齢は書けない</a:t>
            </a:r>
            <a:endParaRPr lang="en-US" sz="3000" dirty="0"/>
          </a:p>
        </p:txBody>
      </p:sp>
      <p:sp>
        <p:nvSpPr>
          <p:cNvPr id="3" name="rule 1 circle"/>
          <p:cNvSpPr/>
          <p:nvPr/>
        </p:nvSpPr>
        <p:spPr>
          <a:xfrm>
            <a:off x="548640" y="1325880"/>
            <a:ext cx="822960" cy="8229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4" name="rule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531620"/>
            <a:ext cx="411480" cy="4114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45920" y="134416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年齢の記載は禁止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645920" y="173736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「20〜30代」「若手限定」などは、労働施策総合推進法 第9条とIndeedの掲載基準で禁止されている</a:t>
            </a:r>
            <a:endParaRPr lang="en-US" sz="1400" dirty="0"/>
          </a:p>
        </p:txBody>
      </p:sp>
      <p:sp>
        <p:nvSpPr>
          <p:cNvPr id="7" name="rule 2 circle"/>
          <p:cNvSpPr/>
          <p:nvPr/>
        </p:nvSpPr>
        <p:spPr>
          <a:xfrm>
            <a:off x="548640" y="2514600"/>
            <a:ext cx="822960" cy="8229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8" name="rule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2720340"/>
            <a:ext cx="411480" cy="4114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45920" y="253288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例外も使えない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1645920" y="292608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若年者に限れる例外（例外事由3号イ）は「職業経験を問わない」ことが条件。製造経験を必須とするこの求人では使えない</a:t>
            </a:r>
            <a:endParaRPr lang="en-US" sz="1400" dirty="0"/>
          </a:p>
        </p:txBody>
      </p:sp>
      <p:sp>
        <p:nvSpPr>
          <p:cNvPr id="11" name="rule 3 circle"/>
          <p:cNvSpPr/>
          <p:nvPr/>
        </p:nvSpPr>
        <p:spPr>
          <a:xfrm>
            <a:off x="548640" y="3703320"/>
            <a:ext cx="822960" cy="8229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2" name="rule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390906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645920" y="372160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年齢で選考しない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1645920" y="411480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40代以上から応募があっても、ほかの応募者と同じ基準で選考する</a:t>
            </a:r>
            <a:endParaRPr lang="en-US" sz="1400" dirty="0"/>
          </a:p>
        </p:txBody>
      </p:sp>
      <p:sp>
        <p:nvSpPr>
          <p:cNvPr id="15" name="approach callout"/>
          <p:cNvSpPr/>
          <p:nvPr/>
        </p:nvSpPr>
        <p:spPr>
          <a:xfrm>
            <a:off x="548640" y="5029200"/>
            <a:ext cx="110642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822960" y="502920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だから → </a:t>
            </a:r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年代の比率は「言葉」「写真」「制度の見せ方」で変える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若年層に寄せる7つの方法</a:t>
            </a:r>
            <a:endParaRPr lang="en-US" sz="3000" dirty="0"/>
          </a:p>
        </p:txBody>
      </p:sp>
      <p:sp>
        <p:nvSpPr>
          <p:cNvPr id="3" name="way card 1"/>
          <p:cNvSpPr/>
          <p:nvPr/>
        </p:nvSpPr>
        <p:spPr>
          <a:xfrm>
            <a:off x="548640" y="1325880"/>
            <a:ext cx="260604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</p:spPr>
      </p:sp>
      <p:sp>
        <p:nvSpPr>
          <p:cNvPr id="4" name="way num 1"/>
          <p:cNvSpPr/>
          <p:nvPr/>
        </p:nvSpPr>
        <p:spPr>
          <a:xfrm>
            <a:off x="777240" y="15544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9456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キャリアの始まりとして書く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889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「作業者からエンジニアへ」。作業者で終わる不安に答える</a:t>
            </a:r>
            <a:endParaRPr lang="en-US" sz="1200" dirty="0"/>
          </a:p>
        </p:txBody>
      </p:sp>
      <p:sp>
        <p:nvSpPr>
          <p:cNvPr id="8" name="way card 2"/>
          <p:cNvSpPr/>
          <p:nvPr/>
        </p:nvSpPr>
        <p:spPr>
          <a:xfrm>
            <a:off x="3367735" y="1325880"/>
            <a:ext cx="260604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</p:spPr>
      </p:sp>
      <p:sp>
        <p:nvSpPr>
          <p:cNvPr id="9" name="way num 2"/>
          <p:cNvSpPr/>
          <p:nvPr/>
        </p:nvSpPr>
        <p:spPr>
          <a:xfrm>
            <a:off x="3596335" y="15544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96335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596335" y="219456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経験の期間は問わない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596335" y="27889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必須は「製造経験（期間不問）」。浅い経験でも応募しやすい</a:t>
            </a:r>
            <a:endParaRPr lang="en-US" sz="1200" dirty="0"/>
          </a:p>
        </p:txBody>
      </p:sp>
      <p:sp>
        <p:nvSpPr>
          <p:cNvPr id="13" name="way card 3"/>
          <p:cNvSpPr/>
          <p:nvPr/>
        </p:nvSpPr>
        <p:spPr>
          <a:xfrm>
            <a:off x="6186830" y="1325880"/>
            <a:ext cx="260604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</p:spPr>
      </p:sp>
      <p:sp>
        <p:nvSpPr>
          <p:cNvPr id="14" name="way num 3"/>
          <p:cNvSpPr/>
          <p:nvPr/>
        </p:nvSpPr>
        <p:spPr>
          <a:xfrm>
            <a:off x="6415430" y="15544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1543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15430" y="219456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年収は経験年数ごとに示す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15430" y="27889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経験3年450万／5年500万／10年700万円</a:t>
            </a:r>
            <a:endParaRPr lang="en-US" sz="1200" dirty="0"/>
          </a:p>
        </p:txBody>
      </p:sp>
      <p:sp>
        <p:nvSpPr>
          <p:cNvPr id="18" name="way card 4"/>
          <p:cNvSpPr/>
          <p:nvPr/>
        </p:nvSpPr>
        <p:spPr>
          <a:xfrm>
            <a:off x="9005926" y="1325880"/>
            <a:ext cx="260604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</p:spPr>
      </p:sp>
      <p:sp>
        <p:nvSpPr>
          <p:cNvPr id="19" name="way num 4"/>
          <p:cNvSpPr/>
          <p:nvPr/>
        </p:nvSpPr>
        <p:spPr>
          <a:xfrm>
            <a:off x="9234526" y="15544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234526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234526" y="219456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教わる環境を前に出す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234526" y="27889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研修・OJT・同じ職場の先輩・資格取得支援</a:t>
            </a:r>
            <a:endParaRPr lang="en-US" sz="1200" dirty="0"/>
          </a:p>
        </p:txBody>
      </p:sp>
      <p:sp>
        <p:nvSpPr>
          <p:cNvPr id="23" name="way card 5"/>
          <p:cNvSpPr/>
          <p:nvPr/>
        </p:nvSpPr>
        <p:spPr>
          <a:xfrm>
            <a:off x="548640" y="3840480"/>
            <a:ext cx="260604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</p:spPr>
      </p:sp>
      <p:sp>
        <p:nvSpPr>
          <p:cNvPr id="24" name="way num 5"/>
          <p:cNvSpPr/>
          <p:nvPr/>
        </p:nvSpPr>
        <p:spPr>
          <a:xfrm>
            <a:off x="777240" y="40690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7724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470916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住まいは単身向けに見せる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" y="53035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社宅の初期費用0円・引越し費用の会社負担を前に</a:t>
            </a:r>
            <a:endParaRPr lang="en-US" sz="1200" dirty="0"/>
          </a:p>
        </p:txBody>
      </p:sp>
      <p:sp>
        <p:nvSpPr>
          <p:cNvPr id="28" name="way card 6"/>
          <p:cNvSpPr/>
          <p:nvPr/>
        </p:nvSpPr>
        <p:spPr>
          <a:xfrm>
            <a:off x="3367735" y="3840480"/>
            <a:ext cx="260604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</p:spPr>
      </p:sp>
      <p:sp>
        <p:nvSpPr>
          <p:cNvPr id="29" name="way num 6"/>
          <p:cNvSpPr/>
          <p:nvPr/>
        </p:nvSpPr>
        <p:spPr>
          <a:xfrm>
            <a:off x="3596335" y="40690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3596335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3596335" y="470916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写真を5枠すべて使う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3596335" y="53035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実際に働く若手社員・OJT・社宅・食堂</a:t>
            </a:r>
            <a:endParaRPr lang="en-US" sz="1200" dirty="0"/>
          </a:p>
        </p:txBody>
      </p:sp>
      <p:sp>
        <p:nvSpPr>
          <p:cNvPr id="33" name="way card 7"/>
          <p:cNvSpPr/>
          <p:nvPr/>
        </p:nvSpPr>
        <p:spPr>
          <a:xfrm>
            <a:off x="6186830" y="3840480"/>
            <a:ext cx="260604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</p:spPr>
      </p:sp>
      <p:sp>
        <p:nvSpPr>
          <p:cNvPr id="34" name="way num 7"/>
          <p:cNvSpPr/>
          <p:nvPr/>
        </p:nvSpPr>
        <p:spPr>
          <a:xfrm>
            <a:off x="6415430" y="40690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41543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6415430" y="470916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40代以上に響く言葉を使わない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6415430" y="53035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即戦力・ベテラン・年齢不問・長く安定・定年 など</a:t>
            </a:r>
            <a:endParaRPr lang="en-US" sz="1200" dirty="0"/>
          </a:p>
        </p:txBody>
      </p:sp>
      <p:sp>
        <p:nvSpPr>
          <p:cNvPr id="38" name="note card"/>
          <p:cNvSpPr/>
          <p:nvPr/>
        </p:nvSpPr>
        <p:spPr>
          <a:xfrm>
            <a:off x="9005926" y="3840480"/>
            <a:ext cx="2606040" cy="2240280"/>
          </a:xfrm>
          <a:prstGeom prst="roundRect">
            <a:avLst>
              <a:gd name="adj" fmla="val 3265"/>
            </a:avLst>
          </a:prstGeom>
          <a:solidFill>
            <a:schemeClr val="tx2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234526" y="4114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注意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9234526" y="457200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どれも若年層に向けた訴求。40代以上を断る書き方はしない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最大の強み：学歴不問で応募できるのはQuestiaだけ</a:t>
            </a:r>
            <a:endParaRPr lang="en-US" sz="3000" dirty="0"/>
          </a:p>
        </p:txBody>
      </p:sp>
      <p:sp>
        <p:nvSpPr>
          <p:cNvPr id="3" name="stat panel"/>
          <p:cNvSpPr/>
          <p:nvPr/>
        </p:nvSpPr>
        <p:spPr>
          <a:xfrm>
            <a:off x="548640" y="1325880"/>
            <a:ext cx="3931920" cy="4754880"/>
          </a:xfrm>
          <a:prstGeom prst="roundRect">
            <a:avLst>
              <a:gd name="adj" fmla="val 1860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chemeClr val="accent2"/>
                </a:solidFill>
              </a:rPr>
              <a:t>0</a:t>
            </a:r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 / 5件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918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学歴不問・製造経験だけで応募できる競合求人の数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34340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Questiaは「学歴不問・資格なしOK・製造現場の経験だけ」で応募できる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132588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競合5件の応募条件（doda・jobhouse.jp、2026年10月2日時点）</a:t>
            </a:r>
            <a:endParaRPr lang="en-US" sz="1300" dirty="0"/>
          </a:p>
        </p:txBody>
      </p:sp>
      <p:sp>
        <p:nvSpPr>
          <p:cNvPr id="8" name="comp row 1"/>
          <p:cNvSpPr/>
          <p:nvPr/>
        </p:nvSpPr>
        <p:spPr>
          <a:xfrm>
            <a:off x="4846320" y="1783080"/>
            <a:ext cx="676656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074920" y="178308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ヒップ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1783080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専門・高専・短大・大卒以上</a:t>
            </a:r>
            <a:endParaRPr lang="en-US" sz="1300" dirty="0"/>
          </a:p>
        </p:txBody>
      </p:sp>
      <p:sp>
        <p:nvSpPr>
          <p:cNvPr id="11" name="comp row 2"/>
          <p:cNvSpPr/>
          <p:nvPr/>
        </p:nvSpPr>
        <p:spPr>
          <a:xfrm>
            <a:off x="4846320" y="2569464"/>
            <a:ext cx="676656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074920" y="2569464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メイテックフィルダーズ（設計）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0" y="2569464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専門・高専・短大・大卒以上</a:t>
            </a:r>
            <a:endParaRPr lang="en-US" sz="1300" dirty="0"/>
          </a:p>
        </p:txBody>
      </p:sp>
      <p:sp>
        <p:nvSpPr>
          <p:cNvPr id="14" name="comp row 3"/>
          <p:cNvSpPr/>
          <p:nvPr/>
        </p:nvSpPr>
        <p:spPr>
          <a:xfrm>
            <a:off x="4846320" y="3355848"/>
            <a:ext cx="676656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074920" y="3355848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メイテックフィルダーズ（未経験歓迎）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3355848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専門・高専・短大・大卒以上</a:t>
            </a:r>
            <a:endParaRPr lang="en-US" sz="1300" dirty="0"/>
          </a:p>
        </p:txBody>
      </p:sp>
      <p:sp>
        <p:nvSpPr>
          <p:cNvPr id="17" name="comp row 4"/>
          <p:cNvSpPr/>
          <p:nvPr/>
        </p:nvSpPr>
        <p:spPr>
          <a:xfrm>
            <a:off x="4846320" y="4142232"/>
            <a:ext cx="676656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074920" y="4142232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東日本スターワークス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0" y="4142232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理工系卒＋設計の実務経験1年以上</a:t>
            </a:r>
            <a:endParaRPr lang="en-US" sz="1300" dirty="0"/>
          </a:p>
        </p:txBody>
      </p:sp>
      <p:sp>
        <p:nvSpPr>
          <p:cNvPr id="20" name="comp row 5"/>
          <p:cNvSpPr/>
          <p:nvPr/>
        </p:nvSpPr>
        <p:spPr>
          <a:xfrm>
            <a:off x="4846320" y="4928616"/>
            <a:ext cx="676656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074920" y="4928616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ミラプロ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0" y="4928616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理系卒か機電系エンジニア経験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57150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→ 競合が狙っていない20代の製造経験者を、ほぼ競合なしで集められる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勝負する点と、勝負しない点</a:t>
            </a:r>
            <a:endParaRPr lang="en-US" sz="3000" dirty="0"/>
          </a:p>
        </p:txBody>
      </p:sp>
      <p:sp>
        <p:nvSpPr>
          <p:cNvPr id="3" name="勝負する（Questiaの強み） header"/>
          <p:cNvSpPr/>
          <p:nvPr/>
        </p:nvSpPr>
        <p:spPr>
          <a:xfrm>
            <a:off x="548640" y="1325880"/>
            <a:ext cx="5852160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/>
        </p:spPr>
      </p:sp>
      <p:sp>
        <p:nvSpPr>
          <p:cNvPr id="4" name="勝負する（Questiaの強み） circle"/>
          <p:cNvSpPr/>
          <p:nvPr/>
        </p:nvSpPr>
        <p:spPr>
          <a:xfrm>
            <a:off x="731520" y="141732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勝負する（Questiaの強み）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54305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32588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勝負する（Questiaの強み）</a:t>
            </a:r>
            <a:endParaRPr lang="en-US" sz="1800" dirty="0"/>
          </a:p>
        </p:txBody>
      </p:sp>
      <p:sp>
        <p:nvSpPr>
          <p:cNvPr id="7" name="勝負しない（競合のほうが上） header"/>
          <p:cNvSpPr/>
          <p:nvPr/>
        </p:nvSpPr>
        <p:spPr>
          <a:xfrm>
            <a:off x="6675120" y="1325880"/>
            <a:ext cx="4937760" cy="685800"/>
          </a:xfrm>
          <a:prstGeom prst="roundRect">
            <a:avLst>
              <a:gd name="adj" fmla="val 10667"/>
            </a:avLst>
          </a:prstGeom>
          <a:solidFill>
            <a:schemeClr val="accent5"/>
          </a:solidFill>
          <a:ln/>
        </p:spPr>
      </p:sp>
      <p:sp>
        <p:nvSpPr>
          <p:cNvPr id="8" name="勝負しない（競合のほうが上） circle"/>
          <p:cNvSpPr/>
          <p:nvPr/>
        </p:nvSpPr>
        <p:spPr>
          <a:xfrm>
            <a:off x="6858000" y="141732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9" name="勝負しない（競合のほうが上）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3730" y="1543050"/>
            <a:ext cx="251460" cy="2514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543800" y="132588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勝負しない（競合のほうが上）</a:t>
            </a:r>
            <a:endParaRPr lang="en-US" sz="1800" dirty="0"/>
          </a:p>
        </p:txBody>
      </p:sp>
      <p:sp>
        <p:nvSpPr>
          <p:cNvPr id="11" name="win 1"/>
          <p:cNvSpPr/>
          <p:nvPr/>
        </p:nvSpPr>
        <p:spPr>
          <a:xfrm>
            <a:off x="548640" y="2194560"/>
            <a:ext cx="585216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31520" y="219456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◎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1280160" y="219456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学歴不問・資格なしOK</a:t>
            </a:r>
            <a:endParaRPr lang="en-US" sz="1400" dirty="0"/>
          </a:p>
        </p:txBody>
      </p:sp>
      <p:sp>
        <p:nvSpPr>
          <p:cNvPr id="14" name="win 2"/>
          <p:cNvSpPr/>
          <p:nvPr/>
        </p:nvSpPr>
        <p:spPr>
          <a:xfrm>
            <a:off x="548640" y="2944368"/>
            <a:ext cx="585216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31520" y="2944368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○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1280160" y="2944368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同じ職場にQuestiaの先輩社員がいる</a:t>
            </a:r>
            <a:endParaRPr lang="en-US" sz="1400" dirty="0"/>
          </a:p>
        </p:txBody>
      </p:sp>
      <p:sp>
        <p:nvSpPr>
          <p:cNvPr id="17" name="win 3"/>
          <p:cNvSpPr/>
          <p:nvPr/>
        </p:nvSpPr>
        <p:spPr>
          <a:xfrm>
            <a:off x="548640" y="3694176"/>
            <a:ext cx="585216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731520" y="3694176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○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1280160" y="3694176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日勤固定・夜勤なし（明記している競合はない）</a:t>
            </a:r>
            <a:endParaRPr lang="en-US" sz="1400" dirty="0"/>
          </a:p>
        </p:txBody>
      </p:sp>
      <p:sp>
        <p:nvSpPr>
          <p:cNvPr id="20" name="win 4"/>
          <p:cNvSpPr/>
          <p:nvPr/>
        </p:nvSpPr>
        <p:spPr>
          <a:xfrm>
            <a:off x="548640" y="4443984"/>
            <a:ext cx="585216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4443984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○</a:t>
            </a:r>
            <a:endParaRPr lang="en-US" sz="1800" dirty="0"/>
          </a:p>
        </p:txBody>
      </p:sp>
      <p:sp>
        <p:nvSpPr>
          <p:cNvPr id="22" name="Text 18"/>
          <p:cNvSpPr txBox="1"/>
          <p:nvPr/>
        </p:nvSpPr>
        <p:spPr>
          <a:xfrm>
            <a:off x="1280160" y="4443984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社宅の初期費用0円・社宅か住宅手当を選べる・引越し費用は会社負担</a:t>
            </a:r>
            <a:endParaRPr lang="en-US" sz="1400" dirty="0"/>
          </a:p>
        </p:txBody>
      </p:sp>
      <p:sp>
        <p:nvSpPr>
          <p:cNvPr id="23" name="win 5"/>
          <p:cNvSpPr/>
          <p:nvPr/>
        </p:nvSpPr>
        <p:spPr>
          <a:xfrm>
            <a:off x="548640" y="5193792"/>
            <a:ext cx="585216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31520" y="5193792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○</a:t>
            </a:r>
            <a:endParaRPr lang="en-US" sz="1800" dirty="0"/>
          </a:p>
        </p:txBody>
      </p:sp>
      <p:sp>
        <p:nvSpPr>
          <p:cNvPr id="25" name="Text 21"/>
          <p:cNvSpPr txBox="1"/>
          <p:nvPr/>
        </p:nvSpPr>
        <p:spPr>
          <a:xfrm>
            <a:off x="1280160" y="5193792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勤務地が大和町に決まっている</a:t>
            </a:r>
            <a:endParaRPr lang="en-US" sz="1400" dirty="0"/>
          </a:p>
        </p:txBody>
      </p:sp>
      <p:sp>
        <p:nvSpPr>
          <p:cNvPr id="26" name="lose 1"/>
          <p:cNvSpPr/>
          <p:nvPr/>
        </p:nvSpPr>
        <p:spPr>
          <a:xfrm>
            <a:off x="6675120" y="2194560"/>
            <a:ext cx="493776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6858000" y="21945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年収の上限</a:t>
            </a:r>
            <a:endParaRPr lang="en-US" sz="1400" dirty="0"/>
          </a:p>
        </p:txBody>
      </p:sp>
      <p:sp>
        <p:nvSpPr>
          <p:cNvPr id="28" name="Text 24"/>
          <p:cNvSpPr txBox="1"/>
          <p:nvPr/>
        </p:nvSpPr>
        <p:spPr>
          <a:xfrm>
            <a:off x="9052560" y="21945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競合は750万〜800万円</a:t>
            </a:r>
            <a:endParaRPr lang="en-US" sz="1200" dirty="0"/>
          </a:p>
        </p:txBody>
      </p:sp>
      <p:sp>
        <p:nvSpPr>
          <p:cNvPr id="29" name="lose 2"/>
          <p:cNvSpPr/>
          <p:nvPr/>
        </p:nvSpPr>
        <p:spPr>
          <a:xfrm>
            <a:off x="6675120" y="2944368"/>
            <a:ext cx="493776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6858000" y="294436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研修の量</a:t>
            </a:r>
            <a:endParaRPr lang="en-US" sz="1400" dirty="0"/>
          </a:p>
        </p:txBody>
      </p:sp>
      <p:sp>
        <p:nvSpPr>
          <p:cNvPr id="31" name="Text 27"/>
          <p:cNvSpPr txBox="1"/>
          <p:nvPr/>
        </p:nvSpPr>
        <p:spPr>
          <a:xfrm>
            <a:off x="9052560" y="294436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メイテックは626講座</a:t>
            </a:r>
            <a:endParaRPr lang="en-US" sz="1200" dirty="0"/>
          </a:p>
        </p:txBody>
      </p:sp>
      <p:sp>
        <p:nvSpPr>
          <p:cNvPr id="32" name="lose 3"/>
          <p:cNvSpPr/>
          <p:nvPr/>
        </p:nvSpPr>
        <p:spPr>
          <a:xfrm>
            <a:off x="6675120" y="3694176"/>
            <a:ext cx="493776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6858000" y="3694176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年間休日の日数</a:t>
            </a:r>
            <a:endParaRPr lang="en-US" sz="1400" dirty="0"/>
          </a:p>
        </p:txBody>
      </p:sp>
      <p:sp>
        <p:nvSpPr>
          <p:cNvPr id="34" name="Text 30"/>
          <p:cNvSpPr txBox="1"/>
          <p:nvPr/>
        </p:nvSpPr>
        <p:spPr>
          <a:xfrm>
            <a:off x="9052560" y="3694176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競合は124〜125日</a:t>
            </a:r>
            <a:endParaRPr lang="en-US" sz="1200" dirty="0"/>
          </a:p>
        </p:txBody>
      </p:sp>
      <p:sp>
        <p:nvSpPr>
          <p:cNvPr id="35" name="lose 4"/>
          <p:cNvSpPr/>
          <p:nvPr/>
        </p:nvSpPr>
        <p:spPr>
          <a:xfrm>
            <a:off x="6675120" y="4443984"/>
            <a:ext cx="493776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36" name="Text 32"/>
          <p:cNvSpPr txBox="1"/>
          <p:nvPr/>
        </p:nvSpPr>
        <p:spPr>
          <a:xfrm>
            <a:off x="6858000" y="4443984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家賃補助の割合</a:t>
            </a:r>
            <a:endParaRPr lang="en-US" sz="1400" dirty="0"/>
          </a:p>
        </p:txBody>
      </p:sp>
      <p:sp>
        <p:nvSpPr>
          <p:cNvPr id="37" name="Text 33"/>
          <p:cNvSpPr txBox="1"/>
          <p:nvPr/>
        </p:nvSpPr>
        <p:spPr>
          <a:xfrm>
            <a:off x="9052560" y="4443984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ヒップは75％</a:t>
            </a:r>
            <a:endParaRPr lang="en-US" sz="1200" dirty="0"/>
          </a:p>
        </p:txBody>
      </p:sp>
      <p:sp>
        <p:nvSpPr>
          <p:cNvPr id="38" name="lose 5"/>
          <p:cNvSpPr/>
          <p:nvPr/>
        </p:nvSpPr>
        <p:spPr>
          <a:xfrm>
            <a:off x="6675120" y="5193792"/>
            <a:ext cx="493776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39" name="Text 35"/>
          <p:cNvSpPr txBox="1"/>
          <p:nvPr/>
        </p:nvSpPr>
        <p:spPr>
          <a:xfrm>
            <a:off x="6858000" y="519379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上場グループのブランド</a:t>
            </a:r>
            <a:endParaRPr lang="en-US" sz="1400" dirty="0"/>
          </a:p>
        </p:txBody>
      </p:sp>
      <p:sp>
        <p:nvSpPr>
          <p:cNvPr id="40" name="Text 36"/>
          <p:cNvSpPr txBox="1"/>
          <p:nvPr/>
        </p:nvSpPr>
        <p:spPr>
          <a:xfrm>
            <a:off x="9052560" y="519379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メイテックは東証プライム上場グループ</a:t>
            </a:r>
            <a:endParaRPr lang="en-US" sz="1200" dirty="0"/>
          </a:p>
        </p:txBody>
      </p:sp>
      <p:sp>
        <p:nvSpPr>
          <p:cNvPr id="41" name="Text 37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「他社より」「業界No.1」などの比較は書かない。Questiaの事実だけを書き、比べるのは求職者に任せる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職種名とキャッチコピー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職種名　</a:t>
            </a:r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半導体製造装置のフィールドエンジニア（据付・立ち上げ／製造経験を活かす）</a:t>
            </a:r>
            <a:endParaRPr lang="en-US" sz="1600" dirty="0"/>
          </a:p>
        </p:txBody>
      </p:sp>
      <p:sp>
        <p:nvSpPr>
          <p:cNvPr id="4" name="main copy panel"/>
          <p:cNvSpPr/>
          <p:nvPr/>
        </p:nvSpPr>
        <p:spPr>
          <a:xfrm>
            <a:off x="548640" y="1783080"/>
            <a:ext cx="11064240" cy="1417320"/>
          </a:xfrm>
          <a:prstGeom prst="roundRect">
            <a:avLst>
              <a:gd name="adj" fmla="val 5161"/>
            </a:avLst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キャッチコピー（メイン案）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【学歴不問】製造現場の経験だけで、半導体装置のエンジニアへ✅同じ職場に先輩社員／日勤固定・夜勤なし／社宅は初期費用0円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290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ペルソナ別の案（2週間ごとに入れ替えてクリック率を比べる）</a:t>
            </a:r>
            <a:endParaRPr lang="en-US" sz="1300" dirty="0"/>
          </a:p>
        </p:txBody>
      </p:sp>
      <p:sp>
        <p:nvSpPr>
          <p:cNvPr id="8" name="persona 1"/>
          <p:cNvSpPr/>
          <p:nvPr/>
        </p:nvSpPr>
        <p:spPr>
          <a:xfrm>
            <a:off x="548640" y="3840480"/>
            <a:ext cx="356616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4023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① 20代の製造オペレーター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43484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作業者で終わらない。ラインの経験だけで、半導体装置エンジニアへ✨学歴・資格不問／先輩が同じ職場で一から指導</a:t>
            </a:r>
            <a:endParaRPr lang="en-US" sz="1300" dirty="0"/>
          </a:p>
        </p:txBody>
      </p:sp>
      <p:sp>
        <p:nvSpPr>
          <p:cNvPr id="11" name="persona 2"/>
          <p:cNvSpPr/>
          <p:nvPr/>
        </p:nvSpPr>
        <p:spPr>
          <a:xfrm>
            <a:off x="4297680" y="3840480"/>
            <a:ext cx="356616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26280" y="4023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② 20代後半〜30代の班長・リーダー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443484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班長・トラブル対応の経験が、そのまま武器に。半導体装置の据付・立ち上げへ✅学歴不問／日勤固定・夜勤なし・土日祝休み</a:t>
            </a:r>
            <a:endParaRPr lang="en-US" sz="1300" dirty="0"/>
          </a:p>
        </p:txBody>
      </p:sp>
      <p:sp>
        <p:nvSpPr>
          <p:cNvPr id="14" name="persona 3"/>
          <p:cNvSpPr/>
          <p:nvPr/>
        </p:nvSpPr>
        <p:spPr>
          <a:xfrm>
            <a:off x="8046720" y="3840480"/>
            <a:ext cx="356616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75320" y="4023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③ 県外で働く製造経験者（UIターン）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443484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宮城で、半導体装置のエンジニアに。勤務地は大和町に決定済み✨引越し費用は会社負担／社宅は初期費用0円・家賃50％補助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訴求ポイントは競合との差が大きい順に並べる</a:t>
            </a:r>
            <a:endParaRPr lang="en-US" sz="3000" dirty="0"/>
          </a:p>
        </p:txBody>
      </p:sp>
      <p:sp>
        <p:nvSpPr>
          <p:cNvPr id="3" name="point 1"/>
          <p:cNvSpPr/>
          <p:nvPr/>
        </p:nvSpPr>
        <p:spPr>
          <a:xfrm>
            <a:off x="548640" y="1463040"/>
            <a:ext cx="1691640" cy="3566160"/>
          </a:xfrm>
          <a:prstGeom prst="roundRect">
            <a:avLst>
              <a:gd name="adj" fmla="val 4324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600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1</a:t>
            </a:r>
            <a:endParaRPr lang="en-US" sz="2400" dirty="0"/>
          </a:p>
        </p:txBody>
      </p:sp>
      <p:sp>
        <p:nvSpPr>
          <p:cNvPr id="5" name="point 1 circle"/>
          <p:cNvSpPr/>
          <p:nvPr/>
        </p:nvSpPr>
        <p:spPr>
          <a:xfrm>
            <a:off x="982980" y="219456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point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400300"/>
            <a:ext cx="411480" cy="411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320040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学歴不問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977640"/>
            <a:ext cx="1417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学歴・資格・設計経験なしでOK</a:t>
            </a:r>
            <a:endParaRPr lang="en-US" sz="1200" dirty="0"/>
          </a:p>
        </p:txBody>
      </p:sp>
      <p:sp>
        <p:nvSpPr>
          <p:cNvPr id="9" name="point 2"/>
          <p:cNvSpPr/>
          <p:nvPr/>
        </p:nvSpPr>
        <p:spPr>
          <a:xfrm>
            <a:off x="2423160" y="1463040"/>
            <a:ext cx="1691640" cy="356616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2606040" y="1600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2</a:t>
            </a:r>
            <a:endParaRPr lang="en-US" sz="2400" dirty="0"/>
          </a:p>
        </p:txBody>
      </p:sp>
      <p:sp>
        <p:nvSpPr>
          <p:cNvPr id="11" name="point 2 circle"/>
          <p:cNvSpPr/>
          <p:nvPr/>
        </p:nvSpPr>
        <p:spPr>
          <a:xfrm>
            <a:off x="2857500" y="219456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point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240" y="240030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560320" y="320040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先輩が同じ職場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2560320" y="3977640"/>
            <a:ext cx="1417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研修＋OJT。すぐ隣で聞ける</a:t>
            </a:r>
            <a:endParaRPr lang="en-US" sz="1200" dirty="0"/>
          </a:p>
        </p:txBody>
      </p:sp>
      <p:sp>
        <p:nvSpPr>
          <p:cNvPr id="15" name="point 3"/>
          <p:cNvSpPr/>
          <p:nvPr/>
        </p:nvSpPr>
        <p:spPr>
          <a:xfrm>
            <a:off x="4297680" y="1463040"/>
            <a:ext cx="1691640" cy="356616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4480560" y="1600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3</a:t>
            </a:r>
            <a:endParaRPr lang="en-US" sz="2400" dirty="0"/>
          </a:p>
        </p:txBody>
      </p:sp>
      <p:sp>
        <p:nvSpPr>
          <p:cNvPr id="17" name="point 3 circle"/>
          <p:cNvSpPr/>
          <p:nvPr/>
        </p:nvSpPr>
        <p:spPr>
          <a:xfrm>
            <a:off x="4732020" y="219456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point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40030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434840" y="320040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日勤固定・夜勤なし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4434840" y="3977640"/>
            <a:ext cx="1417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土日祝休み・年間休日123日</a:t>
            </a:r>
            <a:endParaRPr lang="en-US" sz="1200" dirty="0"/>
          </a:p>
        </p:txBody>
      </p:sp>
      <p:sp>
        <p:nvSpPr>
          <p:cNvPr id="21" name="point 4"/>
          <p:cNvSpPr/>
          <p:nvPr/>
        </p:nvSpPr>
        <p:spPr>
          <a:xfrm>
            <a:off x="6172200" y="1463040"/>
            <a:ext cx="1691640" cy="356616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6355080" y="1600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4</a:t>
            </a:r>
            <a:endParaRPr lang="en-US" sz="2400" dirty="0"/>
          </a:p>
        </p:txBody>
      </p:sp>
      <p:sp>
        <p:nvSpPr>
          <p:cNvPr id="23" name="point 4 circle"/>
          <p:cNvSpPr/>
          <p:nvPr/>
        </p:nvSpPr>
        <p:spPr>
          <a:xfrm>
            <a:off x="6606540" y="219456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4" name="point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2400300"/>
            <a:ext cx="411480" cy="41148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309360" y="320040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住まいを選べる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6309360" y="3977640"/>
            <a:ext cx="1417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社宅（初期費用0円）か住宅手当。引越し費用は会社負担</a:t>
            </a:r>
            <a:endParaRPr lang="en-US" sz="1200" dirty="0"/>
          </a:p>
        </p:txBody>
      </p:sp>
      <p:sp>
        <p:nvSpPr>
          <p:cNvPr id="27" name="point 5"/>
          <p:cNvSpPr/>
          <p:nvPr/>
        </p:nvSpPr>
        <p:spPr>
          <a:xfrm>
            <a:off x="8046720" y="1463040"/>
            <a:ext cx="1691640" cy="356616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8229600" y="1600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5</a:t>
            </a:r>
            <a:endParaRPr lang="en-US" sz="2400" dirty="0"/>
          </a:p>
        </p:txBody>
      </p:sp>
      <p:sp>
        <p:nvSpPr>
          <p:cNvPr id="29" name="point 5 circle"/>
          <p:cNvSpPr/>
          <p:nvPr/>
        </p:nvSpPr>
        <p:spPr>
          <a:xfrm>
            <a:off x="8481060" y="219456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point 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0" y="2400300"/>
            <a:ext cx="411480" cy="41148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8183880" y="320040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勤務地が決まっている</a:t>
            </a:r>
            <a:endParaRPr lang="en-US" sz="1500" dirty="0"/>
          </a:p>
        </p:txBody>
      </p:sp>
      <p:sp>
        <p:nvSpPr>
          <p:cNvPr id="32" name="Text 25"/>
          <p:cNvSpPr txBox="1"/>
          <p:nvPr/>
        </p:nvSpPr>
        <p:spPr>
          <a:xfrm>
            <a:off x="8183880" y="3977640"/>
            <a:ext cx="1417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大和町テクノヒルズ。食堂・カフェなど</a:t>
            </a:r>
            <a:endParaRPr lang="en-US" sz="1200" dirty="0"/>
          </a:p>
        </p:txBody>
      </p:sp>
      <p:sp>
        <p:nvSpPr>
          <p:cNvPr id="33" name="point 6"/>
          <p:cNvSpPr/>
          <p:nvPr/>
        </p:nvSpPr>
        <p:spPr>
          <a:xfrm>
            <a:off x="9921240" y="1463040"/>
            <a:ext cx="1691640" cy="356616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34" name="Text 27"/>
          <p:cNvSpPr txBox="1"/>
          <p:nvPr/>
        </p:nvSpPr>
        <p:spPr>
          <a:xfrm>
            <a:off x="10104120" y="1600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6</a:t>
            </a:r>
            <a:endParaRPr lang="en-US" sz="2400" dirty="0"/>
          </a:p>
        </p:txBody>
      </p:sp>
      <p:sp>
        <p:nvSpPr>
          <p:cNvPr id="35" name="point 6 circle"/>
          <p:cNvSpPr/>
          <p:nvPr/>
        </p:nvSpPr>
        <p:spPr>
          <a:xfrm>
            <a:off x="10355580" y="219456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6" name="point 6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61320" y="2400300"/>
            <a:ext cx="411480" cy="41148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10058400" y="320040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年収モデル</a:t>
            </a:r>
            <a:endParaRPr lang="en-US" sz="1500" dirty="0"/>
          </a:p>
        </p:txBody>
      </p:sp>
      <p:sp>
        <p:nvSpPr>
          <p:cNvPr id="38" name="Text 30"/>
          <p:cNvSpPr txBox="1"/>
          <p:nvPr/>
        </p:nvSpPr>
        <p:spPr>
          <a:xfrm>
            <a:off x="10058400" y="3977640"/>
            <a:ext cx="1417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経験3年450万〜10年700万円</a:t>
            </a:r>
            <a:endParaRPr lang="en-US" sz="1200" dirty="0"/>
          </a:p>
        </p:txBody>
      </p:sp>
      <p:sp>
        <p:nvSpPr>
          <p:cNvPr id="39" name="Text 31"/>
          <p:cNvSpPr txBox="1"/>
          <p:nvPr/>
        </p:nvSpPr>
        <p:spPr>
          <a:xfrm>
            <a:off x="548640" y="53035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家族向けの手当（単身赴任手当・帰省旅費など）は削らず、待遇欄に置く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そのほかの主な変更点</a:t>
            </a:r>
            <a:endParaRPr lang="en-US" sz="3000" dirty="0"/>
          </a:p>
        </p:txBody>
      </p:sp>
      <p:sp>
        <p:nvSpPr>
          <p:cNvPr id="3" name="change 1"/>
          <p:cNvSpPr/>
          <p:nvPr/>
        </p:nvSpPr>
        <p:spPr>
          <a:xfrm>
            <a:off x="548640" y="1325880"/>
            <a:ext cx="544068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508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雇用形態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202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欄は「派遣社員」のまま。本文に「Questiaの正社員（無期雇用派遣）。配属先がない期間も給与あり」と明記</a:t>
            </a:r>
            <a:endParaRPr lang="en-US" sz="1300" dirty="0"/>
          </a:p>
        </p:txBody>
      </p:sp>
      <p:sp>
        <p:nvSpPr>
          <p:cNvPr id="6" name="change 2"/>
          <p:cNvSpPr/>
          <p:nvPr/>
        </p:nvSpPr>
        <p:spPr>
          <a:xfrm>
            <a:off x="6172200" y="1325880"/>
            <a:ext cx="544068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46520" y="1508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求める人材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19202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必須は「製造経験（期間不問）」「普通免許」の2つ。矛盾していた「未経験でも安心」は削除</a:t>
            </a:r>
            <a:endParaRPr lang="en-US" sz="1300" dirty="0"/>
          </a:p>
        </p:txBody>
      </p:sp>
      <p:sp>
        <p:nvSpPr>
          <p:cNvPr id="9" name="change 3"/>
          <p:cNvSpPr/>
          <p:nvPr/>
        </p:nvSpPr>
        <p:spPr>
          <a:xfrm>
            <a:off x="548640" y="2926080"/>
            <a:ext cx="544068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3108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タグ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5204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「学歴不問」「日勤のみ」を最優先で追加。年間休日120日以上・寮社宅あり・研修ありなど計10個</a:t>
            </a:r>
            <a:endParaRPr lang="en-US" sz="1300" dirty="0"/>
          </a:p>
        </p:txBody>
      </p:sp>
      <p:sp>
        <p:nvSpPr>
          <p:cNvPr id="12" name="change 4"/>
          <p:cNvSpPr/>
          <p:nvPr/>
        </p:nvSpPr>
        <p:spPr>
          <a:xfrm>
            <a:off x="6172200" y="2926080"/>
            <a:ext cx="544068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46520" y="3108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掲載画像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35204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1枚 → 5枚。若手社員の作業、OJT、社宅、食堂・フットサル（実在の社員・職場のみ）</a:t>
            </a:r>
            <a:endParaRPr lang="en-US" sz="1300" dirty="0"/>
          </a:p>
        </p:txBody>
      </p:sp>
      <p:sp>
        <p:nvSpPr>
          <p:cNvPr id="15" name="change 5"/>
          <p:cNvSpPr/>
          <p:nvPr/>
        </p:nvSpPr>
        <p:spPr>
          <a:xfrm>
            <a:off x="548640" y="4526280"/>
            <a:ext cx="544068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7091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審査用の質問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51206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製造経験／普通免許・車通勤／クリーンルーム可否／担当した作業。年齢は聞かない</a:t>
            </a:r>
            <a:endParaRPr lang="en-US" sz="1300" dirty="0"/>
          </a:p>
        </p:txBody>
      </p:sp>
      <p:sp>
        <p:nvSpPr>
          <p:cNvPr id="18" name="change 6"/>
          <p:cNvSpPr/>
          <p:nvPr/>
        </p:nvSpPr>
        <p:spPr>
          <a:xfrm>
            <a:off x="6172200" y="4526280"/>
            <a:ext cx="544068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46520" y="47091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応募時の必須項目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51206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「性別」は外す。「生年月日」は任意にする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掲載前に確認すること</a:t>
            </a:r>
            <a:endParaRPr lang="en-US" sz="3000" dirty="0"/>
          </a:p>
        </p:txBody>
      </p:sp>
      <p:graphicFrame>
        <p:nvGraphicFramePr>
          <p:cNvPr id="11" name="check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8503920"/>
                <a:gridCol w="20116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#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確認すること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確認先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月給は258,400円と278,400円のどちらが正しいか（年収モデルも計算し直す）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Questia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年収450万円は経験3年のモデルか、入社時から見込めるか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Questia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Indeedの求人に就業先名（東京エレクトロン宮城）を出せるか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Questia営業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「転勤あり」の実態と、「勤務地は大和町に決定済み」と書いてよいか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Questia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住宅手当（1万〜2.5万円）が月額か／社宅の家賃補助の上限額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Questia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昇給年1回・賞与年2回、資格取得支援、長期休暇がこの求人でも同じか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Questia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入社後に最初に担当する業務（据付・立ち上げからでよいか）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Questia・就業先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「活躍している人の例」が実際の入社者の前職と合っているか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Questia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社員・職場の写真を撮影・掲載してよいか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Questia・就業先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網掛けの1〜4は、キャッチコピーと訴求ポイントの書き方が変わるため優先して確認する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進め方と効果の測り方</a:t>
            </a:r>
            <a:endParaRPr lang="en-US" sz="3000" dirty="0"/>
          </a:p>
        </p:txBody>
      </p:sp>
      <p:sp>
        <p:nvSpPr>
          <p:cNvPr id="3" name="step 1"/>
          <p:cNvSpPr/>
          <p:nvPr/>
        </p:nvSpPr>
        <p:spPr>
          <a:xfrm>
            <a:off x="548640" y="1325880"/>
            <a:ext cx="3566160" cy="2057400"/>
          </a:xfrm>
          <a:prstGeom prst="roundRect">
            <a:avLst>
              <a:gd name="adj" fmla="val 3556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508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STEP 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286000" y="15087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すぐに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1168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職種名・キャッチコピー（メイン案）・タグ・画像を変える</a:t>
            </a:r>
            <a:endParaRPr lang="en-US" sz="1400" dirty="0"/>
          </a:p>
        </p:txBody>
      </p:sp>
      <p:sp>
        <p:nvSpPr>
          <p:cNvPr id="7" name="arrow 1"/>
          <p:cNvSpPr/>
          <p:nvPr/>
        </p:nvSpPr>
        <p:spPr>
          <a:xfrm rot="5400000">
            <a:off x="4096512" y="2258568"/>
            <a:ext cx="274320" cy="146304"/>
          </a:xfrm>
          <a:prstGeom prst="triangle">
            <a:avLst/>
          </a:prstGeom>
          <a:solidFill>
            <a:schemeClr val="accent2"/>
          </a:solidFill>
          <a:ln/>
        </p:spPr>
      </p:sp>
      <p:sp>
        <p:nvSpPr>
          <p:cNvPr id="8" name="step 2"/>
          <p:cNvSpPr/>
          <p:nvPr/>
        </p:nvSpPr>
        <p:spPr>
          <a:xfrm>
            <a:off x="4297680" y="1325880"/>
            <a:ext cx="356616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0" y="1508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STEP 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035040" y="15087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2週間後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01168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仕事内容・求める人材・訴求ポイントを変える</a:t>
            </a:r>
            <a:endParaRPr lang="en-US" sz="1400" dirty="0"/>
          </a:p>
        </p:txBody>
      </p:sp>
      <p:sp>
        <p:nvSpPr>
          <p:cNvPr id="12" name="arrow 2"/>
          <p:cNvSpPr/>
          <p:nvPr/>
        </p:nvSpPr>
        <p:spPr>
          <a:xfrm rot="5400000">
            <a:off x="7845552" y="2258568"/>
            <a:ext cx="274320" cy="146304"/>
          </a:xfrm>
          <a:prstGeom prst="triangle">
            <a:avLst/>
          </a:prstGeom>
          <a:solidFill>
            <a:schemeClr val="accent2"/>
          </a:solidFill>
          <a:ln/>
        </p:spPr>
      </p:sp>
      <p:sp>
        <p:nvSpPr>
          <p:cNvPr id="13" name="step 3"/>
          <p:cNvSpPr/>
          <p:nvPr/>
        </p:nvSpPr>
        <p:spPr>
          <a:xfrm>
            <a:off x="8046720" y="1325880"/>
            <a:ext cx="356616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321040" y="1508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STEP 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9784080" y="15087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その後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201168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キャッチコピーをペルソナ①〜③の案に2週間ずつ入れ替えて比べる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657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効果の測り方</a:t>
            </a:r>
            <a:endParaRPr lang="en-US" sz="1600" dirty="0"/>
          </a:p>
        </p:txBody>
      </p:sp>
      <p:sp>
        <p:nvSpPr>
          <p:cNvPr id="18" name="metric 1"/>
          <p:cNvSpPr/>
          <p:nvPr/>
        </p:nvSpPr>
        <p:spPr>
          <a:xfrm>
            <a:off x="548640" y="4114800"/>
            <a:ext cx="26289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77240" y="42976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クリック率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4754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職種名・キャッチコピーの効果</a:t>
            </a:r>
            <a:endParaRPr lang="en-US" sz="1200" dirty="0"/>
          </a:p>
        </p:txBody>
      </p:sp>
      <p:sp>
        <p:nvSpPr>
          <p:cNvPr id="21" name="metric 2"/>
          <p:cNvSpPr/>
          <p:nvPr/>
        </p:nvSpPr>
        <p:spPr>
          <a:xfrm>
            <a:off x="3360420" y="4114800"/>
            <a:ext cx="26289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589020" y="42976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応募率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589020" y="4754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応募数 ÷ 閲覧数。本文全体の効果</a:t>
            </a:r>
            <a:endParaRPr lang="en-US" sz="1200" dirty="0"/>
          </a:p>
        </p:txBody>
      </p:sp>
      <p:sp>
        <p:nvSpPr>
          <p:cNvPr id="24" name="metric 3"/>
          <p:cNvSpPr/>
          <p:nvPr/>
        </p:nvSpPr>
        <p:spPr>
          <a:xfrm>
            <a:off x="6172200" y="4114800"/>
            <a:ext cx="26289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00800" y="42976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20〜30代の割合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0" y="4754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変更前後の4週間で比べる</a:t>
            </a:r>
            <a:endParaRPr lang="en-US" sz="1200" dirty="0"/>
          </a:p>
        </p:txBody>
      </p:sp>
      <p:sp>
        <p:nvSpPr>
          <p:cNvPr id="27" name="metric 4"/>
          <p:cNvSpPr/>
          <p:nvPr/>
        </p:nvSpPr>
        <p:spPr>
          <a:xfrm>
            <a:off x="8983980" y="4114800"/>
            <a:ext cx="26289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212580" y="42976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応募者の前職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9212580" y="4754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ライン作業者・班長・県外の工場勤務が増えたか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年代の集計は効果測定だけに使い、選考には使わない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uestia Recruit">
  <a:themeElements>
    <a:clrScheme name="Questia Recruit">
      <a:dk1>
        <a:srgbClr val="1F2A2B"/>
      </a:dk1>
      <a:lt1>
        <a:srgbClr val="FFFFFF"/>
      </a:lt1>
      <a:dk2>
        <a:srgbClr val="0F3D3E"/>
      </a:dk2>
      <a:lt2>
        <a:srgbClr val="EEF4F3"/>
      </a:lt2>
      <a:accent1>
        <a:srgbClr val="0F7C78"/>
      </a:accent1>
      <a:accent2>
        <a:srgbClr val="F28C28"/>
      </a:accent2>
      <a:accent3>
        <a:srgbClr val="C0392B"/>
      </a:accent3>
      <a:accent4>
        <a:srgbClr val="7FB7B0"/>
      </a:accent4>
      <a:accent5>
        <a:srgbClr val="5B6B6C"/>
      </a:accent5>
      <a:accent6>
        <a:srgbClr val="2E7D32"/>
      </a:accent6>
      <a:hlink>
        <a:srgbClr val="0F7C78"/>
      </a:hlink>
      <a:folHlink>
        <a:srgbClr val="5B6B6C"/>
      </a:folHlink>
    </a:clrScheme>
    <a:fontScheme name="Questia Recruit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Questia 求人ブラッシュアップ案</dc:title>
  <dc:subject>PptxGenJS Presentation</dc:subject>
  <dc:creator>Questia 採用支援</dc:creator>
  <cp:lastModifiedBy>Questia 採用支援</cp:lastModifiedBy>
  <cp:revision>1</cp:revision>
  <dcterms:created xsi:type="dcterms:W3CDTF">2026-10-06T08:57:24Z</dcterms:created>
  <dcterms:modified xsi:type="dcterms:W3CDTF">2026-10-06T08:57:24Z</dcterms:modified>
</cp:coreProperties>
</file>